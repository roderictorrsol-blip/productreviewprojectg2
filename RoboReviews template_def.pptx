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pPr algn="ctr"/>
            <a:endParaRPr b="0" lang="es-E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s-E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301680"/>
            <a:ext cx="8519400" cy="858960"/>
          </a:xfrm>
          <a:prstGeom prst="rect">
            <a:avLst/>
          </a:prstGeom>
        </p:spPr>
        <p:txBody>
          <a:bodyPr lIns="0" rIns="0" tIns="0" bIns="0" anchor="ctr">
            <a:spAutoFit/>
          </a:bodyPr>
          <a:p>
            <a:r>
              <a:rPr b="0" lang="es-ES" sz="1800" spc="-1" strike="noStrike">
                <a:latin typeface="Arial"/>
              </a:rPr>
              <a:t>Click to edit the title text format</a:t>
            </a:r>
            <a:endParaRPr b="0" lang="es-ES" sz="18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400" cy="34153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Click to edit the outline text format</a:t>
            </a:r>
            <a:endParaRPr b="0" lang="es-ES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Second Outline Level</a:t>
            </a:r>
            <a:endParaRPr b="0" lang="es-ES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Third Outline Level</a:t>
            </a:r>
            <a:endParaRPr b="0" lang="es-ES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800" spc="-1" strike="noStrike">
                <a:latin typeface="Arial"/>
              </a:rPr>
              <a:t>Fourth Outline Level</a:t>
            </a:r>
            <a:endParaRPr b="0" lang="es-ES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Fifth Outline Level</a:t>
            </a:r>
            <a:endParaRPr b="0" lang="es-ES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Sixth Outline Level</a:t>
            </a:r>
            <a:endParaRPr b="0" lang="es-ES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800" spc="-1" strike="noStrike">
                <a:latin typeface="Arial"/>
              </a:rPr>
              <a:t>Seventh Outline Level</a:t>
            </a:r>
            <a:endParaRPr b="0" lang="es-E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s-ES" sz="4400" spc="-1" strike="noStrike">
                <a:latin typeface="Arial"/>
              </a:rPr>
              <a:t>Click to edit the title text format</a:t>
            </a:r>
            <a:endParaRPr b="0" lang="es-ES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latin typeface="Arial"/>
              </a:rPr>
              <a:t>Click to edit the outline text format</a:t>
            </a:r>
            <a:endParaRPr b="0" lang="es-E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latin typeface="Arial"/>
              </a:rPr>
              <a:t>Second Outline Level</a:t>
            </a:r>
            <a:endParaRPr b="0" lang="es-E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latin typeface="Arial"/>
              </a:rPr>
              <a:t>Third Outline Level</a:t>
            </a:r>
            <a:endParaRPr b="0" lang="es-E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latin typeface="Arial"/>
              </a:rPr>
              <a:t>Fourth Outline Level</a:t>
            </a:r>
            <a:endParaRPr b="0" lang="es-E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Fifth Outline Level</a:t>
            </a:r>
            <a:endParaRPr b="0" lang="es-E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Sixth Outline Level</a:t>
            </a:r>
            <a:endParaRPr b="0" lang="es-E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latin typeface="Arial"/>
              </a:rPr>
              <a:t>Seventh Outline Level</a:t>
            </a:r>
            <a:endParaRPr b="0" lang="es-E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review-spark-compare.lovable.app/" TargetMode="External"/><Relationship Id="rId2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CustomShape 1"/>
          <p:cNvSpPr/>
          <p:nvPr/>
        </p:nvSpPr>
        <p:spPr>
          <a:xfrm>
            <a:off x="844560" y="781560"/>
            <a:ext cx="7881120" cy="205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b">
            <a:normAutofit/>
          </a:bodyPr>
          <a:p>
            <a:pPr algn="ctr">
              <a:lnSpc>
                <a:spcPct val="100000"/>
              </a:lnSpc>
            </a:pPr>
            <a:r>
              <a:rPr b="1" lang="es-ES" sz="3100" spc="-1" strike="noStrike">
                <a:solidFill>
                  <a:srgbClr val="000000"/>
                </a:solidFill>
                <a:latin typeface="Arial"/>
                <a:ea typeface="Arial"/>
              </a:rPr>
              <a:t>Automated Customer Reviews</a:t>
            </a:r>
            <a:endParaRPr b="0" lang="es-ES" sz="31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es-ES" sz="5200" spc="-1" strike="noStrike">
                <a:solidFill>
                  <a:srgbClr val="000000"/>
                </a:solidFill>
                <a:latin typeface="Arial"/>
                <a:ea typeface="Arial"/>
              </a:rPr>
              <a:t>G2</a:t>
            </a:r>
            <a:r>
              <a:rPr b="0" lang="es-ES" sz="52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endParaRPr b="0" lang="es-ES" sz="5200" spc="-1" strike="noStrike">
              <a:latin typeface="Arial"/>
            </a:endParaRPr>
          </a:p>
        </p:txBody>
      </p:sp>
      <p:sp>
        <p:nvSpPr>
          <p:cNvPr id="77" name="CustomShape 2"/>
          <p:cNvSpPr/>
          <p:nvPr/>
        </p:nvSpPr>
        <p:spPr>
          <a:xfrm>
            <a:off x="311760" y="2834280"/>
            <a:ext cx="8519400" cy="79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66000"/>
          </a:bodyPr>
          <a:p>
            <a:pPr algn="ctr">
              <a:lnSpc>
                <a:spcPct val="100000"/>
              </a:lnSpc>
            </a:pPr>
            <a:r>
              <a:rPr b="0" lang="es-ES" sz="2800" spc="-1" strike="noStrike">
                <a:solidFill>
                  <a:srgbClr val="595959"/>
                </a:solidFill>
                <a:latin typeface="Arial"/>
                <a:ea typeface="Arial"/>
              </a:rPr>
              <a:t>Rodrigo Torallba</a:t>
            </a:r>
            <a:endParaRPr b="0" lang="es-ES" sz="28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s-ES" sz="2800" spc="-1" strike="noStrike">
                <a:solidFill>
                  <a:srgbClr val="595959"/>
                </a:solidFill>
                <a:latin typeface="Arial"/>
                <a:ea typeface="Arial"/>
              </a:rPr>
              <a:t>Sohail Hiraj</a:t>
            </a:r>
            <a:endParaRPr b="0" lang="es-E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Introduction</a:t>
            </a: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	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Develop a product review system powered by NLP models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Classifying reviews, Clustering product categories and 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using generative AI to summarize reviews into recommendation articles.</a:t>
            </a: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  <a:spcBef>
                <a:spcPts val="1199"/>
              </a:spcBef>
            </a:pP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Summary and Preprocessing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Classification with Distilbert Model 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Clustering was done with TfidfVectorizer + Kmeans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Summarization with Mistral-7b and Fine-tunning with Qlora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Deployment --&gt;  Loveable website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Cleaned the data by Merging datasets, reducing columns,</a:t>
            </a: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      </a:t>
            </a: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removing duplicate values, and adding some stopwords</a:t>
            </a: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Classification model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15000"/>
              </a:lnSpc>
            </a:pPr>
            <a:r>
              <a:rPr b="1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Classify customer reviews into positive, negative, or neutral</a:t>
            </a: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 categories 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We tried two fine-tunned distilbert model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Accuracy : 0.9608 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Precision: 0.9593 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Recall : 0.9608 </a:t>
            </a: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F1-score : 0.9600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Model 1 - Evaluation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85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15000"/>
              </a:lnSpc>
            </a:pPr>
            <a:r>
              <a:rPr b="1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Classify customer reviews into positive, negative, or neutral</a:t>
            </a: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 categories to help the company improve its products and services. 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es-ES" sz="1800" spc="-1" strike="noStrike">
              <a:latin typeface="Arial"/>
            </a:endParaRPr>
          </a:p>
          <a:p>
            <a:pPr marL="4572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Accuracy = 0.96, F1-score 0.79</a:t>
            </a: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  <a:spcBef>
                <a:spcPts val="1199"/>
              </a:spcBef>
            </a:pP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 marL="114480"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86" name="Grafik 7" descr=""/>
          <p:cNvPicPr/>
          <p:nvPr/>
        </p:nvPicPr>
        <p:blipFill>
          <a:blip r:embed="rId1"/>
          <a:stretch/>
        </p:blipFill>
        <p:spPr>
          <a:xfrm>
            <a:off x="4572000" y="1938240"/>
            <a:ext cx="3899520" cy="3083040"/>
          </a:xfrm>
          <a:prstGeom prst="rect">
            <a:avLst/>
          </a:prstGeom>
          <a:ln>
            <a:noFill/>
          </a:ln>
        </p:spPr>
      </p:pic>
      <p:pic>
        <p:nvPicPr>
          <p:cNvPr id="87" name="Grafik 9" descr=""/>
          <p:cNvPicPr/>
          <p:nvPr/>
        </p:nvPicPr>
        <p:blipFill>
          <a:blip r:embed="rId2"/>
          <a:stretch/>
        </p:blipFill>
        <p:spPr>
          <a:xfrm>
            <a:off x="0" y="2327760"/>
            <a:ext cx="4474440" cy="230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Clustering Model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89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  <a:p>
            <a:pPr marL="9144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TfidfVectorizer + Kmeans </a:t>
            </a:r>
            <a:endParaRPr b="0" lang="es-ES" sz="1800" spc="-1" strike="noStrike">
              <a:latin typeface="Arial"/>
            </a:endParaRPr>
          </a:p>
          <a:p>
            <a:pPr marL="9144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We cluster the products into 3 categories</a:t>
            </a:r>
            <a:endParaRPr b="0" lang="es-ES" sz="1800" spc="-1" strike="noStrike">
              <a:latin typeface="Arial"/>
            </a:endParaRPr>
          </a:p>
          <a:p>
            <a:pPr marL="9144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400" spc="-1" strike="noStrike">
                <a:solidFill>
                  <a:srgbClr val="595959"/>
                </a:solidFill>
                <a:latin typeface="Arial"/>
                <a:ea typeface="Arial"/>
              </a:rPr>
              <a:t>Cluster 0 : Audio Devices</a:t>
            </a:r>
            <a:endParaRPr b="0" lang="es-ES" sz="1400" spc="-1" strike="noStrike">
              <a:latin typeface="Arial"/>
            </a:endParaRPr>
          </a:p>
          <a:p>
            <a:pPr marL="9144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400" spc="-1" strike="noStrike">
                <a:solidFill>
                  <a:srgbClr val="595959"/>
                </a:solidFill>
                <a:latin typeface="Arial"/>
                <a:ea typeface="Arial"/>
              </a:rPr>
              <a:t> </a:t>
            </a:r>
            <a:r>
              <a:rPr b="0" lang="es-ES" sz="1400" spc="-1" strike="noStrike">
                <a:solidFill>
                  <a:srgbClr val="595959"/>
                </a:solidFill>
                <a:latin typeface="Arial"/>
                <a:ea typeface="Arial"/>
              </a:rPr>
              <a:t>Cluster 1: Power &amp; Batteries</a:t>
            </a:r>
            <a:endParaRPr b="0" lang="es-ES" sz="1400" spc="-1" strike="noStrike">
              <a:latin typeface="Arial"/>
            </a:endParaRPr>
          </a:p>
          <a:p>
            <a:pPr marL="914400" indent="-342000">
              <a:lnSpc>
                <a:spcPct val="115000"/>
              </a:lnSpc>
              <a:spcBef>
                <a:spcPts val="1199"/>
              </a:spcBef>
              <a:buClr>
                <a:srgbClr val="595959"/>
              </a:buClr>
              <a:buFont typeface="Arial"/>
              <a:buChar char="●"/>
            </a:pPr>
            <a:r>
              <a:rPr b="0" lang="es-ES" sz="1400" spc="-1" strike="noStrike">
                <a:solidFill>
                  <a:srgbClr val="595959"/>
                </a:solidFill>
                <a:latin typeface="Arial"/>
                <a:ea typeface="Arial"/>
              </a:rPr>
              <a:t>Cluster 2: Ebook Readers &amp; Tablets",</a:t>
            </a:r>
            <a:endParaRPr b="0" lang="es-ES" sz="1400" spc="-1" strike="noStrike"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</a:pPr>
            <a:endParaRPr b="0" lang="es-ES" sz="1400" spc="-1" strike="noStrike">
              <a:latin typeface="Arial"/>
            </a:endParaRPr>
          </a:p>
          <a:p>
            <a:pPr marL="114480" algn="ctr">
              <a:lnSpc>
                <a:spcPct val="115000"/>
              </a:lnSpc>
            </a:pPr>
            <a:r>
              <a:rPr b="0" lang="es-ES" sz="1400" spc="-1" strike="noStrike">
                <a:solidFill>
                  <a:srgbClr val="595959"/>
                </a:solidFill>
                <a:latin typeface="Arial"/>
                <a:ea typeface="Arial"/>
              </a:rPr>
              <a:t>                  </a:t>
            </a:r>
            <a:endParaRPr b="0" lang="es-ES" sz="1400" spc="-1" strike="noStrike">
              <a:latin typeface="Arial"/>
            </a:endParaRPr>
          </a:p>
          <a:p>
            <a:pPr marL="114480" algn="ctr">
              <a:lnSpc>
                <a:spcPct val="115000"/>
              </a:lnSpc>
            </a:pPr>
            <a:endParaRPr b="0" lang="es-ES" sz="1400" spc="-1" strike="noStrike">
              <a:latin typeface="Arial"/>
            </a:endParaRPr>
          </a:p>
          <a:p>
            <a:pPr marL="114480"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endParaRPr b="0" lang="es-E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Model 2 - Evaluation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15000"/>
              </a:lnSpc>
              <a:spcBef>
                <a:spcPts val="1199"/>
              </a:spcBef>
            </a:pPr>
            <a:endParaRPr b="0" lang="es-ES" sz="1800" spc="-1" strike="noStrike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</a:pPr>
            <a:endParaRPr b="0" lang="es-ES" sz="1800" spc="-1" strike="noStrike"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92" name="Grafik 2" descr=""/>
          <p:cNvPicPr/>
          <p:nvPr/>
        </p:nvPicPr>
        <p:blipFill>
          <a:blip r:embed="rId1"/>
          <a:stretch/>
        </p:blipFill>
        <p:spPr>
          <a:xfrm>
            <a:off x="223200" y="1152360"/>
            <a:ext cx="8608320" cy="1902960"/>
          </a:xfrm>
          <a:prstGeom prst="rect">
            <a:avLst/>
          </a:prstGeom>
          <a:ln>
            <a:noFill/>
          </a:ln>
        </p:spPr>
      </p:pic>
      <p:pic>
        <p:nvPicPr>
          <p:cNvPr id="93" name="Grafik 6" descr=""/>
          <p:cNvPicPr/>
          <p:nvPr/>
        </p:nvPicPr>
        <p:blipFill>
          <a:blip r:embed="rId2"/>
          <a:stretch/>
        </p:blipFill>
        <p:spPr>
          <a:xfrm>
            <a:off x="586800" y="3053520"/>
            <a:ext cx="6972120" cy="1899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Summarization Text model   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>
              <a:lnSpc>
                <a:spcPct val="115000"/>
              </a:lnSpc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Use Generative AI to </a:t>
            </a:r>
            <a:r>
              <a:rPr b="1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summarize reviews </a:t>
            </a: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into an article which recommends the top products for each category</a:t>
            </a:r>
            <a:endParaRPr b="0" lang="es-ES" sz="1800" spc="-1" strike="noStrike">
              <a:latin typeface="Arial"/>
            </a:endParaRPr>
          </a:p>
          <a:p>
            <a:pPr marL="9144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Mistral-7b and fine-tunning with QLoRa</a:t>
            </a:r>
            <a:endParaRPr b="0" lang="es-ES" sz="1800" spc="-1" strike="noStrike">
              <a:latin typeface="Arial"/>
            </a:endParaRPr>
          </a:p>
          <a:p>
            <a:pPr>
              <a:lnSpc>
                <a:spcPct val="115000"/>
              </a:lnSpc>
            </a:pPr>
            <a:endParaRPr b="0" lang="es-ES" sz="1800" spc="-1" strike="noStrike">
              <a:latin typeface="Arial"/>
            </a:endParaRPr>
          </a:p>
        </p:txBody>
      </p:sp>
      <p:pic>
        <p:nvPicPr>
          <p:cNvPr id="96" name="Grafik 4" descr=""/>
          <p:cNvPicPr/>
          <p:nvPr/>
        </p:nvPicPr>
        <p:blipFill>
          <a:blip r:embed="rId1"/>
          <a:stretch/>
        </p:blipFill>
        <p:spPr>
          <a:xfrm>
            <a:off x="193320" y="2311560"/>
            <a:ext cx="8845560" cy="22564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311760" y="44496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 fontScale="97000"/>
          </a:bodyPr>
          <a:p>
            <a:pPr>
              <a:lnSpc>
                <a:spcPct val="100000"/>
              </a:lnSpc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  <a:ea typeface="Arial"/>
              </a:rPr>
              <a:t>Deployment</a:t>
            </a:r>
            <a:endParaRPr b="0" lang="es-ES" sz="2800" spc="-1" strike="noStrike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>
            <a:normAutofit/>
          </a:bodyPr>
          <a:p>
            <a:pPr marL="457200" indent="-342000">
              <a:lnSpc>
                <a:spcPct val="115000"/>
              </a:lnSpc>
              <a:buClr>
                <a:srgbClr val="595959"/>
              </a:buClr>
              <a:buFont typeface="Arial"/>
              <a:buChar char="●"/>
            </a:pP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</a:rPr>
              <a:t>URL:</a:t>
            </a:r>
            <a:r>
              <a:rPr b="0" lang="es-ES" sz="1800" spc="-1" strike="noStrike">
                <a:solidFill>
                  <a:srgbClr val="595959"/>
                </a:solidFill>
                <a:latin typeface="Arial"/>
                <a:ea typeface="Arial"/>
                <a:hlinkClick r:id="rId1"/>
              </a:rPr>
              <a:t> https://review-spark-compare.lovable.app</a:t>
            </a:r>
            <a:endParaRPr b="0" lang="es-E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CustomShape 1"/>
          <p:cNvSpPr/>
          <p:nvPr/>
        </p:nvSpPr>
        <p:spPr>
          <a:xfrm>
            <a:off x="311760" y="623880"/>
            <a:ext cx="8519400" cy="21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Self Medal: LSD Medal</a:t>
            </a:r>
            <a:endParaRPr b="0" lang="es-ES" sz="1400" spc="-1" strike="noStrike">
              <a:latin typeface="Arial"/>
            </a:endParaRPr>
          </a:p>
        </p:txBody>
      </p:sp>
      <p:sp>
        <p:nvSpPr>
          <p:cNvPr id="100" name="CustomShape 2"/>
          <p:cNvSpPr/>
          <p:nvPr/>
        </p:nvSpPr>
        <p:spPr>
          <a:xfrm>
            <a:off x="311760" y="1152360"/>
            <a:ext cx="8519400" cy="3415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Because of my model was hallucinating</a:t>
            </a:r>
            <a:endParaRPr b="0" lang="es-ES" sz="14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00" spc="-1" strike="noStrike">
                <a:solidFill>
                  <a:srgbClr val="000000"/>
                </a:solidFill>
                <a:latin typeface="Arial"/>
                <a:ea typeface="DejaVu Sans"/>
              </a:rPr>
              <a:t>so hard it looked like it was high on LSD.</a:t>
            </a:r>
            <a:endParaRPr b="0" lang="es-ES" sz="1400" spc="-1" strike="noStrike">
              <a:latin typeface="Arial"/>
            </a:endParaRPr>
          </a:p>
        </p:txBody>
      </p:sp>
      <p:pic>
        <p:nvPicPr>
          <p:cNvPr id="101" name="Grafik 102" descr=""/>
          <p:cNvPicPr/>
          <p:nvPr/>
        </p:nvPicPr>
        <p:blipFill>
          <a:blip r:embed="rId1"/>
          <a:stretch/>
        </p:blipFill>
        <p:spPr>
          <a:xfrm>
            <a:off x="4383000" y="144000"/>
            <a:ext cx="4616640" cy="4895640"/>
          </a:xfrm>
          <a:prstGeom prst="rect">
            <a:avLst/>
          </a:prstGeom>
          <a:ln>
            <a:noFill/>
          </a:ln>
        </p:spPr>
      </p:pic>
      <p:pic>
        <p:nvPicPr>
          <p:cNvPr id="102" name="" descr=""/>
          <p:cNvPicPr/>
          <p:nvPr/>
        </p:nvPicPr>
        <p:blipFill>
          <a:blip r:embed="rId2"/>
          <a:stretch/>
        </p:blipFill>
        <p:spPr>
          <a:xfrm>
            <a:off x="1152360" y="2158560"/>
            <a:ext cx="1943280" cy="19638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Trio_Office/6.2.8.2$Windows_x86 LibreOffice_project/</Application>
  <Words>238</Words>
  <Paragraphs>48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es-ES</dc:language>
  <cp:lastModifiedBy/>
  <dcterms:modified xsi:type="dcterms:W3CDTF">2026-02-20T17:50:49Z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Bildschirmpräsentation (16:9)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10</vt:i4>
  </property>
</Properties>
</file>
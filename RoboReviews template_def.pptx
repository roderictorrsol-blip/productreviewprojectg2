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311760" y="301680"/>
            <a:ext cx="8519760" cy="39830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311760" y="2936520"/>
            <a:ext cx="851976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677120" y="115236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31176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4677120" y="2936520"/>
            <a:ext cx="415728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s-E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19248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73200" y="115236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31176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19248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073200" y="2936520"/>
            <a:ext cx="2743200" cy="16290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s-E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es-ES" sz="1800" spc="-1" strike="noStrike">
                <a:latin typeface="Arial"/>
              </a:rPr>
              <a:t>Click to edit the title text format</a:t>
            </a:r>
            <a:endParaRPr b="0" lang="es-E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pc="-1" strike="noStrike">
                <a:latin typeface="Arial"/>
              </a:rPr>
              <a:t>Click to edit the outline text format</a:t>
            </a:r>
            <a:endParaRPr b="0" lang="es-E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pc="-1" strike="noStrike">
                <a:latin typeface="Arial"/>
              </a:rPr>
              <a:t>Second Outline Level</a:t>
            </a:r>
            <a:endParaRPr b="0" lang="es-E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pc="-1" strike="noStrike">
                <a:latin typeface="Arial"/>
              </a:rPr>
              <a:t>Third Outline Level</a:t>
            </a:r>
            <a:endParaRPr b="0" lang="es-E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pc="-1" strike="noStrike">
                <a:latin typeface="Arial"/>
              </a:rPr>
              <a:t>Fourth Outline Level</a:t>
            </a:r>
            <a:endParaRPr b="0" lang="es-E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latin typeface="Arial"/>
              </a:rPr>
              <a:t>Fifth Outline Level</a:t>
            </a:r>
            <a:endParaRPr b="0" lang="es-E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latin typeface="Arial"/>
              </a:rPr>
              <a:t>Sixth Outline Level</a:t>
            </a:r>
            <a:endParaRPr b="0" lang="es-E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pc="-1" strike="noStrike">
                <a:latin typeface="Arial"/>
              </a:rPr>
              <a:t>Seventh Outline Level</a:t>
            </a:r>
            <a:endParaRPr b="0" lang="es-E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311760" y="301680"/>
            <a:ext cx="8519760" cy="858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es-ES" sz="1800" spc="-1" strike="noStrike">
                <a:latin typeface="Arial"/>
              </a:rPr>
              <a:t>Click to edit the title text format</a:t>
            </a:r>
            <a:endParaRPr b="0" lang="es-ES" sz="18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19760" cy="34156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latin typeface="Arial"/>
              </a:rPr>
              <a:t>Click to edit the outline text format</a:t>
            </a:r>
            <a:endParaRPr b="0" lang="es-E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pc="-1" strike="noStrike">
                <a:latin typeface="Arial"/>
              </a:rPr>
              <a:t>Second Outline Level</a:t>
            </a:r>
            <a:endParaRPr b="0" lang="es-E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latin typeface="Arial"/>
              </a:rPr>
              <a:t>Third Outline Level</a:t>
            </a:r>
            <a:endParaRPr b="0" lang="es-E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pc="-1" strike="noStrike">
                <a:latin typeface="Arial"/>
              </a:rPr>
              <a:t>Fourth Outline Level</a:t>
            </a:r>
            <a:endParaRPr b="0" lang="es-E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latin typeface="Arial"/>
              </a:rPr>
              <a:t>Fifth Outline Level</a:t>
            </a:r>
            <a:endParaRPr b="0" lang="es-E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latin typeface="Arial"/>
              </a:rPr>
              <a:t>Sixth Outline Level</a:t>
            </a:r>
            <a:endParaRPr b="0" lang="es-E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pc="-1" strike="noStrike">
                <a:latin typeface="Arial"/>
              </a:rPr>
              <a:t>Seventh Outline Level</a:t>
            </a:r>
            <a:endParaRPr b="0" lang="es-ES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844560" y="781560"/>
            <a:ext cx="7881480" cy="205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b">
            <a:normAutofit/>
          </a:bodyPr>
          <a:p>
            <a:pPr algn="ctr">
              <a:lnSpc>
                <a:spcPct val="100000"/>
              </a:lnSpc>
            </a:pPr>
            <a:r>
              <a:rPr b="1" lang="es-ES" sz="3100" spc="-1" strike="noStrike">
                <a:solidFill>
                  <a:srgbClr val="000000"/>
                </a:solidFill>
                <a:latin typeface="Arial"/>
                <a:ea typeface="Arial"/>
              </a:rPr>
              <a:t>Automated Customer Reviews</a:t>
            </a:r>
            <a:br/>
            <a:r>
              <a:rPr b="1" lang="es-ES" sz="5200" spc="-1" strike="noStrike">
                <a:solidFill>
                  <a:srgbClr val="000000"/>
                </a:solidFill>
                <a:latin typeface="Arial"/>
                <a:ea typeface="Arial"/>
              </a:rPr>
              <a:t>G2</a:t>
            </a:r>
            <a:r>
              <a:rPr b="0" lang="es-ES" sz="52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endParaRPr b="0" lang="es-ES" sz="5200" spc="-1" strike="noStrike"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311760" y="2834280"/>
            <a:ext cx="8519760" cy="792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66000"/>
          </a:bodyPr>
          <a:p>
            <a:pPr algn="ctr">
              <a:lnSpc>
                <a:spcPct val="100000"/>
              </a:lnSpc>
            </a:pPr>
            <a:r>
              <a:rPr b="0" lang="es-ES" sz="2800" spc="-1" strike="noStrike">
                <a:solidFill>
                  <a:srgbClr val="595959"/>
                </a:solidFill>
                <a:latin typeface="Arial"/>
                <a:ea typeface="Arial"/>
              </a:rPr>
              <a:t>Rodrigo Torallba</a:t>
            </a:r>
            <a:endParaRPr b="0" lang="es-ES" sz="2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s-ES" sz="2800" spc="-1" strike="noStrike">
                <a:solidFill>
                  <a:srgbClr val="595959"/>
                </a:solidFill>
                <a:latin typeface="Arial"/>
                <a:ea typeface="Arial"/>
              </a:rPr>
              <a:t>Sohail Hiraj</a:t>
            </a:r>
            <a:endParaRPr b="0" lang="es-E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Introduction</a:t>
            </a: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	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7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Develop a product review system powered by NLP models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Classifying reviews, Clustering product categories and 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using generative AI to summarize reviews into recommendation articles.</a:t>
            </a: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Summary and Preprocessing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Distilbert Model for classification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Clustering was done with TfidfVectorizer + Kmeans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Summarization was done with Mistral-7b and Fine-tunning with Qlora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Deployment of the product recommendation website via Loveable website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Cleaned the data by removing duplicate values.</a:t>
            </a: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Classification model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1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Classify customer reviews into positive, negative, or neutral</a:t>
            </a: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 categories </a:t>
            </a: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We tried two fine-tunned distilbert model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Accuracy : 0.9608 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Precision: 0.9593 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Recall : 0.9608 </a:t>
            </a: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F1-score : 0.9600</a:t>
            </a: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endParaRPr b="0" lang="es-E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Model 1 - Evaluation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1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Classify customer reviews into positive, negative, or neutral</a:t>
            </a: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 categories to help the company improve its products and services. </a:t>
            </a: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  <a:p>
            <a:pPr marL="4572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Accuracy = 0.96, F1-score 0.79</a:t>
            </a: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 marL="114480"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</p:txBody>
      </p:sp>
      <p:pic>
        <p:nvPicPr>
          <p:cNvPr id="86" name="Grafik 7" descr=""/>
          <p:cNvPicPr/>
          <p:nvPr/>
        </p:nvPicPr>
        <p:blipFill>
          <a:blip r:embed="rId1"/>
          <a:stretch/>
        </p:blipFill>
        <p:spPr>
          <a:xfrm>
            <a:off x="4572000" y="1938240"/>
            <a:ext cx="3899880" cy="3083400"/>
          </a:xfrm>
          <a:prstGeom prst="rect">
            <a:avLst/>
          </a:prstGeom>
          <a:ln>
            <a:noFill/>
          </a:ln>
        </p:spPr>
      </p:pic>
      <p:pic>
        <p:nvPicPr>
          <p:cNvPr id="87" name="Grafik 9" descr=""/>
          <p:cNvPicPr/>
          <p:nvPr/>
        </p:nvPicPr>
        <p:blipFill>
          <a:blip r:embed="rId2"/>
          <a:stretch/>
        </p:blipFill>
        <p:spPr>
          <a:xfrm>
            <a:off x="0" y="2327760"/>
            <a:ext cx="4474800" cy="23047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Clustering Model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TfidfVectorizer + Kmeans </a:t>
            </a:r>
            <a:endParaRPr b="0" lang="es-ES" sz="18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We cluster the products into 3 categories</a:t>
            </a:r>
            <a:endParaRPr b="0" lang="es-ES" sz="18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400" spc="-1" strike="noStrike">
                <a:solidFill>
                  <a:srgbClr val="595959"/>
                </a:solidFill>
                <a:latin typeface="Arial"/>
                <a:ea typeface="Arial"/>
              </a:rPr>
              <a:t>Cluster 0 : Audio Devices</a:t>
            </a:r>
            <a:endParaRPr b="0" lang="es-ES" sz="14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400" spc="-1" strike="noStrike">
                <a:solidFill>
                  <a:srgbClr val="595959"/>
                </a:solidFill>
                <a:latin typeface="Arial"/>
                <a:ea typeface="Arial"/>
              </a:rPr>
              <a:t> </a:t>
            </a:r>
            <a:r>
              <a:rPr b="0" lang="es-ES" sz="1400" spc="-1" strike="noStrike">
                <a:solidFill>
                  <a:srgbClr val="595959"/>
                </a:solidFill>
                <a:latin typeface="Arial"/>
                <a:ea typeface="Arial"/>
              </a:rPr>
              <a:t>Cluster 1: Power &amp; Batteries</a:t>
            </a:r>
            <a:endParaRPr b="0" lang="es-ES" sz="14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</a:pPr>
            <a:r>
              <a:rPr b="0" lang="es-ES" sz="1400" spc="-1" strike="noStrike">
                <a:solidFill>
                  <a:srgbClr val="595959"/>
                </a:solidFill>
                <a:latin typeface="Arial"/>
                <a:ea typeface="Arial"/>
              </a:rPr>
              <a:t>Cluster 2: Ebook Readers &amp; Tablets",</a:t>
            </a:r>
            <a:endParaRPr b="0" lang="es-ES" sz="1400" spc="-1" strike="noStrike"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</a:pPr>
            <a:endParaRPr b="0" lang="es-ES" sz="1400" spc="-1" strike="noStrike">
              <a:latin typeface="Arial"/>
            </a:endParaRPr>
          </a:p>
          <a:p>
            <a:pPr marL="114480" algn="ctr">
              <a:lnSpc>
                <a:spcPct val="115000"/>
              </a:lnSpc>
            </a:pPr>
            <a:r>
              <a:rPr b="0" lang="es-ES" sz="1400" spc="-1" strike="noStrike">
                <a:solidFill>
                  <a:srgbClr val="595959"/>
                </a:solidFill>
                <a:latin typeface="Arial"/>
                <a:ea typeface="Arial"/>
              </a:rPr>
              <a:t>                  </a:t>
            </a:r>
            <a:endParaRPr b="0" lang="es-ES" sz="1400" spc="-1" strike="noStrike">
              <a:latin typeface="Arial"/>
            </a:endParaRPr>
          </a:p>
          <a:p>
            <a:pPr marL="114480" algn="ctr">
              <a:lnSpc>
                <a:spcPct val="115000"/>
              </a:lnSpc>
            </a:pPr>
            <a:endParaRPr b="0" lang="es-ES" sz="1400" spc="-1" strike="noStrike">
              <a:latin typeface="Arial"/>
            </a:endParaRPr>
          </a:p>
          <a:p>
            <a:pPr marL="114480" algn="just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endParaRPr b="0" lang="es-E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Model 2 - Evaluation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199"/>
              </a:spcBef>
            </a:pPr>
            <a:endParaRPr b="0" lang="es-ES" sz="1800" spc="-1" strike="noStrike"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</a:pPr>
            <a:endParaRPr b="0" lang="es-ES" sz="1800" spc="-1" strike="noStrike">
              <a:latin typeface="Arial"/>
            </a:endParaRPr>
          </a:p>
        </p:txBody>
      </p:sp>
      <p:pic>
        <p:nvPicPr>
          <p:cNvPr id="92" name="Grafik 2" descr=""/>
          <p:cNvPicPr/>
          <p:nvPr/>
        </p:nvPicPr>
        <p:blipFill>
          <a:blip r:embed="rId1"/>
          <a:stretch/>
        </p:blipFill>
        <p:spPr>
          <a:xfrm>
            <a:off x="223200" y="1152360"/>
            <a:ext cx="8608680" cy="1903320"/>
          </a:xfrm>
          <a:prstGeom prst="rect">
            <a:avLst/>
          </a:prstGeom>
          <a:ln>
            <a:noFill/>
          </a:ln>
        </p:spPr>
      </p:pic>
      <p:pic>
        <p:nvPicPr>
          <p:cNvPr id="93" name="Grafik 6" descr=""/>
          <p:cNvPicPr/>
          <p:nvPr/>
        </p:nvPicPr>
        <p:blipFill>
          <a:blip r:embed="rId2"/>
          <a:stretch/>
        </p:blipFill>
        <p:spPr>
          <a:xfrm>
            <a:off x="586800" y="3053520"/>
            <a:ext cx="6972480" cy="19000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Summarization Text model   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>
              <a:lnSpc>
                <a:spcPct val="115000"/>
              </a:lnSpc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Use Generative AI to </a:t>
            </a:r>
            <a:r>
              <a:rPr b="1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summarize reviews </a:t>
            </a: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into an article which recommends the top products for each category</a:t>
            </a:r>
            <a:endParaRPr b="0" lang="es-ES" sz="1800" spc="-1" strike="noStrike">
              <a:latin typeface="Arial"/>
            </a:endParaRPr>
          </a:p>
          <a:p>
            <a:pPr marL="9144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Mistral-7b and fine-tunning with QLoRa</a:t>
            </a:r>
            <a:endParaRPr b="0" lang="es-ES" sz="1800" spc="-1" strike="noStrike">
              <a:latin typeface="Arial"/>
            </a:endParaRPr>
          </a:p>
          <a:p>
            <a:pPr>
              <a:lnSpc>
                <a:spcPct val="115000"/>
              </a:lnSpc>
            </a:pPr>
            <a:endParaRPr b="0" lang="es-ES" sz="1800" spc="-1" strike="noStrike">
              <a:latin typeface="Arial"/>
            </a:endParaRPr>
          </a:p>
        </p:txBody>
      </p:sp>
      <p:pic>
        <p:nvPicPr>
          <p:cNvPr id="96" name="Grafik 4" descr=""/>
          <p:cNvPicPr/>
          <p:nvPr/>
        </p:nvPicPr>
        <p:blipFill>
          <a:blip r:embed="rId1"/>
          <a:stretch/>
        </p:blipFill>
        <p:spPr>
          <a:xfrm>
            <a:off x="193320" y="2311560"/>
            <a:ext cx="8845920" cy="2256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311760" y="444960"/>
            <a:ext cx="8519760" cy="57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 fontScale="97000"/>
          </a:bodyPr>
          <a:p>
            <a:pPr>
              <a:lnSpc>
                <a:spcPct val="100000"/>
              </a:lnSpc>
            </a:pPr>
            <a:r>
              <a:rPr b="0" lang="es-ES" sz="2800" spc="-1" strike="noStrike">
                <a:solidFill>
                  <a:srgbClr val="000000"/>
                </a:solidFill>
                <a:latin typeface="Arial"/>
                <a:ea typeface="Arial"/>
              </a:rPr>
              <a:t>Deployment</a:t>
            </a:r>
            <a:endParaRPr b="0" lang="es-ES" sz="2800" spc="-1" strike="noStrike"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>
            <a:normAutofit/>
          </a:bodyPr>
          <a:p>
            <a:pPr marL="457200" indent="-342360">
              <a:lnSpc>
                <a:spcPct val="115000"/>
              </a:lnSpc>
              <a:buClr>
                <a:srgbClr val="595959"/>
              </a:buClr>
              <a:buFont typeface="Arial"/>
              <a:buChar char="●"/>
            </a:pPr>
            <a:r>
              <a:rPr b="0" lang="es-ES" sz="1800" spc="-1" strike="noStrike">
                <a:solidFill>
                  <a:srgbClr val="595959"/>
                </a:solidFill>
                <a:latin typeface="Arial"/>
                <a:ea typeface="Arial"/>
              </a:rPr>
              <a:t>URL: </a:t>
            </a:r>
            <a:r>
              <a:rPr b="0" lang="es-ES" sz="1800" spc="-1" strike="noStrike" u="sng">
                <a:solidFill>
                  <a:srgbClr val="595959"/>
                </a:solidFill>
                <a:uFillTx/>
                <a:latin typeface="Arial"/>
                <a:ea typeface="Arial"/>
              </a:rPr>
              <a:t>https://review-spark-compare.lovable.app</a:t>
            </a:r>
            <a:endParaRPr b="0" lang="es-E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ustomShape 1"/>
          <p:cNvSpPr/>
          <p:nvPr/>
        </p:nvSpPr>
        <p:spPr>
          <a:xfrm>
            <a:off x="311760" y="623880"/>
            <a:ext cx="8519760" cy="213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Self Medal: LSD Medal</a:t>
            </a:r>
            <a:endParaRPr b="0" lang="es-ES" sz="1400" spc="-1" strike="noStrike">
              <a:latin typeface="Arial"/>
            </a:endParaRPr>
          </a:p>
        </p:txBody>
      </p:sp>
      <p:sp>
        <p:nvSpPr>
          <p:cNvPr id="100" name="CustomShape 2"/>
          <p:cNvSpPr/>
          <p:nvPr/>
        </p:nvSpPr>
        <p:spPr>
          <a:xfrm>
            <a:off x="311760" y="1152360"/>
            <a:ext cx="8519760" cy="3415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Because our model was hallucinating</a:t>
            </a:r>
            <a:endParaRPr b="0" lang="es-ES" sz="14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400" spc="-1" strike="noStrike">
                <a:solidFill>
                  <a:srgbClr val="000000"/>
                </a:solidFill>
                <a:latin typeface="Arial"/>
              </a:rPr>
              <a:t>so hard it looked like it was high on LSD.</a:t>
            </a:r>
            <a:endParaRPr b="0" lang="es-ES" sz="1400" spc="-1" strike="noStrike">
              <a:latin typeface="Arial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4066200" y="194040"/>
            <a:ext cx="4765320" cy="4773600"/>
          </a:xfrm>
          <a:prstGeom prst="rect">
            <a:avLst/>
          </a:prstGeom>
          <a:ln>
            <a:noFill/>
          </a:ln>
        </p:spPr>
      </p:pic>
      <p:pic>
        <p:nvPicPr>
          <p:cNvPr id="102" name="" descr=""/>
          <p:cNvPicPr/>
          <p:nvPr/>
        </p:nvPicPr>
        <p:blipFill>
          <a:blip r:embed="rId2"/>
          <a:stretch/>
        </p:blipFill>
        <p:spPr>
          <a:xfrm>
            <a:off x="1152000" y="2304000"/>
            <a:ext cx="1800000" cy="18190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Trio_Office/6.2.8.2$Windows_x86 LibreOffice_project/</Application>
  <Words>217</Words>
  <Paragraphs>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2026-02-20T15:57:06Z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9</vt:i4>
  </property>
  <property fmtid="{D5CDD505-2E9C-101B-9397-08002B2CF9AE}" pid="8" name="PresentationFormat">
    <vt:lpwstr>Bildschirmpräsentation (16:9)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9</vt:i4>
  </property>
</Properties>
</file>